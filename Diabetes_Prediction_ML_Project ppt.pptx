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0B3C49"/>
                </a:solidFill>
                <a:latin typeface="Calibri"/>
              </a:rPr>
              <a:t>Outcome distribution (768 patients)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7F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899-4049-82A7-08D40F02A385}"/>
              </c:ext>
            </c:extLst>
          </c:dPt>
          <c:dPt>
            <c:idx val="1"/>
            <c:bubble3D val="0"/>
            <c:spPr>
              <a:solidFill>
                <a:srgbClr val="E860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899-4049-82A7-08D40F02A38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899-4049-82A7-08D40F02A38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899-4049-82A7-08D40F02A38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Non-diabetic (0)</c:v>
                </c:pt>
                <c:pt idx="1">
                  <c:v>Diabetic (1)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500</c:v>
                </c:pt>
                <c:pt idx="1">
                  <c:v>268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99-4049-82A7-08D40F02A3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D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0B3C49"/>
                </a:solidFill>
                <a:latin typeface="Calibri"/>
              </a:rPr>
              <a:t>Zero (invalid) values per column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Zero values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D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Insulin</c:v>
                </c:pt>
                <c:pt idx="1">
                  <c:v>SkinThickness</c:v>
                </c:pt>
                <c:pt idx="2">
                  <c:v>BloodPressure</c:v>
                </c:pt>
                <c:pt idx="3">
                  <c:v>BMI</c:v>
                </c:pt>
                <c:pt idx="4">
                  <c:v>Glucose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374</c:v>
                </c:pt>
                <c:pt idx="1">
                  <c:v>227</c:v>
                </c:pt>
                <c:pt idx="2">
                  <c:v>35</c:v>
                </c:pt>
                <c:pt idx="3">
                  <c:v>11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10-4DC4-B162-8C511754C2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D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B3C49"/>
                </a:solidFill>
                <a:latin typeface="Calibri"/>
              </a:rPr>
              <a:t>Correlation of each feature with Outcome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Outcome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D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BloodPressure</c:v>
                </c:pt>
                <c:pt idx="1">
                  <c:v>SkinThickness</c:v>
                </c:pt>
                <c:pt idx="2">
                  <c:v>Insulin</c:v>
                </c:pt>
                <c:pt idx="3">
                  <c:v>DiabetesPedigree</c:v>
                </c:pt>
                <c:pt idx="4">
                  <c:v>Pregnancies</c:v>
                </c:pt>
                <c:pt idx="5">
                  <c:v>Age</c:v>
                </c:pt>
                <c:pt idx="6">
                  <c:v>BMI</c:v>
                </c:pt>
                <c:pt idx="7">
                  <c:v>Glucose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6.5000000000000002E-2</c:v>
                </c:pt>
                <c:pt idx="1">
                  <c:v>7.4999999999999997E-2</c:v>
                </c:pt>
                <c:pt idx="2">
                  <c:v>0.13100000000000001</c:v>
                </c:pt>
                <c:pt idx="3">
                  <c:v>0.17399999999999999</c:v>
                </c:pt>
                <c:pt idx="4">
                  <c:v>0.222</c:v>
                </c:pt>
                <c:pt idx="5">
                  <c:v>0.23799999999999999</c:v>
                </c:pt>
                <c:pt idx="6">
                  <c:v>0.29299999999999998</c:v>
                </c:pt>
                <c:pt idx="7">
                  <c:v>0.46700000000000003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63-48F3-960E-5DF2C7CD76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D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0B3C49"/>
                </a:solidFill>
                <a:latin typeface="Calibri"/>
              </a:rPr>
              <a:t>Performance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D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CV Accuracy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71.400000000000006</c:v>
                </c:pt>
                <c:pt idx="1">
                  <c:v>60.9</c:v>
                </c:pt>
                <c:pt idx="2">
                  <c:v>51.9</c:v>
                </c:pt>
                <c:pt idx="3">
                  <c:v>56</c:v>
                </c:pt>
                <c:pt idx="4">
                  <c:v>78.8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D2-4F03-83D1-E37B8973181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D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CV Accuracy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76</c:v>
                </c:pt>
                <c:pt idx="1">
                  <c:v>68.099999999999994</c:v>
                </c:pt>
                <c:pt idx="2">
                  <c:v>59.3</c:v>
                </c:pt>
                <c:pt idx="3">
                  <c:v>63.4</c:v>
                </c:pt>
                <c:pt idx="4">
                  <c:v>76.400000000000006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D2-4F03-83D1-E37B897318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D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D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C49"/>
                </a:solidFill>
                <a:latin typeface="Calibri"/>
              </a:defRPr>
            </a:pPr>
            <a:r>
              <a:rPr lang="en-IN" sz="1200" b="0" i="0" u="none" strike="noStrike">
                <a:solidFill>
                  <a:srgbClr val="0B3C49"/>
                </a:solidFill>
                <a:latin typeface="Calibri"/>
              </a:rPr>
              <a:t>RF feature importance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D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SkinThickness</c:v>
                </c:pt>
                <c:pt idx="1">
                  <c:v>Insulin</c:v>
                </c:pt>
                <c:pt idx="2">
                  <c:v>Pregnancies</c:v>
                </c:pt>
                <c:pt idx="3">
                  <c:v>BloodPressure</c:v>
                </c:pt>
                <c:pt idx="4">
                  <c:v>Age</c:v>
                </c:pt>
                <c:pt idx="5">
                  <c:v>DiabetesPedigree</c:v>
                </c:pt>
                <c:pt idx="6">
                  <c:v>BMI</c:v>
                </c:pt>
                <c:pt idx="7">
                  <c:v>Glucose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6.8000000000000005E-2</c:v>
                </c:pt>
                <c:pt idx="1">
                  <c:v>7.1999999999999995E-2</c:v>
                </c:pt>
                <c:pt idx="2">
                  <c:v>8.4000000000000005E-2</c:v>
                </c:pt>
                <c:pt idx="3">
                  <c:v>8.5999999999999993E-2</c:v>
                </c:pt>
                <c:pt idx="4">
                  <c:v>0.127</c:v>
                </c:pt>
                <c:pt idx="5">
                  <c:v>0.127</c:v>
                </c:pt>
                <c:pt idx="6">
                  <c:v>0.16</c:v>
                </c:pt>
                <c:pt idx="7">
                  <c:v>0.27600000000000002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40-4A18-A7D6-D1EBAF428C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D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954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822960"/>
            <a:ext cx="3291840" cy="3291840"/>
          </a:xfrm>
          <a:prstGeom prst="ellipse">
            <a:avLst/>
          </a:prstGeom>
          <a:solidFill>
            <a:srgbClr val="1B7F8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2651760"/>
            <a:ext cx="2011680" cy="2011680"/>
          </a:xfrm>
          <a:prstGeom prst="ellipse">
            <a:avLst/>
          </a:prstGeom>
          <a:solidFill>
            <a:srgbClr val="E8604C">
              <a:alpha val="6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914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 Risk Prediction Using Logistic Regression and Random Forest with Cross-Validation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82880" y="382651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/>
            <a:r>
              <a:rPr lang="en-US" sz="13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</a:p>
          <a:p>
            <a:pPr lvl="1"/>
            <a:r>
              <a:rPr lang="en-US" sz="13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Nandini(2520090230)</a:t>
            </a:r>
          </a:p>
          <a:p>
            <a:pPr lvl="1"/>
            <a:r>
              <a:rPr lang="en-US" sz="130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Rohita(2520090154</a:t>
            </a:r>
            <a:endParaRPr lang="en-US" sz="1300" dirty="0">
              <a:solidFill>
                <a:srgbClr val="0070C0"/>
              </a:solidFill>
            </a:endParaRPr>
          </a:p>
        </p:txBody>
      </p:sp>
      <p:pic>
        <p:nvPicPr>
          <p:cNvPr id="9" name="Image 1" descr="/home/claude/assets/kluh_logo.png">
            <a:extLst>
              <a:ext uri="{FF2B5EF4-FFF2-40B4-BE49-F238E27FC236}">
                <a16:creationId xmlns:a16="http://schemas.microsoft.com/office/drawing/2014/main" id="{9140BE5A-A9F2-B68D-4ACD-633E85D75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827" y="216662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1206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is a common chronic disease; early prediction supports timely care and prevention.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system predicts whether a person is likely to be diabetic from medical data.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Pima Indians Diabetes Dataset: glucose, blood pressure, BMI, insulin, age, pregnancies.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and Random Forest are trained after data cleaning and preprocessing.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checks consistency; models are scored on accuracy, precision, recall, F1 and confusion matrix.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109728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89320" y="1188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11887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228600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89320" y="23774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23774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0" y="347472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989320" y="35661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356616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</a:t>
            </a:r>
            <a:endParaRPr lang="en-US" sz="1400" dirty="0"/>
          </a:p>
        </p:txBody>
      </p:sp>
      <p:pic>
        <p:nvPicPr>
          <p:cNvPr id="16" name="Image 1" descr="/home/claude/assets/kluh_logo.png">
            <a:extLst>
              <a:ext uri="{FF2B5EF4-FFF2-40B4-BE49-F238E27FC236}">
                <a16:creationId xmlns:a16="http://schemas.microsoft.com/office/drawing/2014/main" id="{89C7CD5A-EBCD-E6EC-FEE8-E97464304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0" y="160020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3520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is a chronic disease where blood glucose becomes too high.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undetected, it can cause serious health problems.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can find patterns in medical data that help predict disease.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checks that models perform consistently and reduces overfitting.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325880"/>
            <a:ext cx="502920" cy="502920"/>
          </a:xfrm>
          <a:prstGeom prst="ellipse">
            <a:avLst/>
          </a:prstGeom>
          <a:solidFill>
            <a:srgbClr val="1B7F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6916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fast classifier that outputs the probability of one of two outcomes (diabetic / non-diabetic).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8803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3108960"/>
            <a:ext cx="502920" cy="50292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463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532120" y="34747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of many decision trees whose votes are combined into one robust prediction.</a:t>
            </a:r>
            <a:endParaRPr lang="en-US" sz="1300" dirty="0"/>
          </a:p>
        </p:txBody>
      </p:sp>
      <p:pic>
        <p:nvPicPr>
          <p:cNvPr id="18" name="Image 1" descr="/home/claude/assets/kluh_logo.png">
            <a:extLst>
              <a:ext uri="{FF2B5EF4-FFF2-40B4-BE49-F238E27FC236}">
                <a16:creationId xmlns:a16="http://schemas.microsoft.com/office/drawing/2014/main" id="{9F049A51-DE0B-C35F-CD48-2AD61A52F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20" y="160020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depends on many medical factors such as glucose level, BMI, blood pressure, age and insulin. Analysing these manually is difficult for large amounts of data.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machine learning system that analyses patient information and predicts whether a patient is likely to have diabetes.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81728" y="1207008"/>
            <a:ext cx="347472" cy="347472"/>
          </a:xfrm>
          <a:prstGeom prst="ellipse">
            <a:avLst/>
          </a:prstGeom>
          <a:solidFill>
            <a:srgbClr val="1B7F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81728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681728" y="160020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diabetes prediction system using ML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675120" y="109728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784848" y="1207008"/>
            <a:ext cx="347472" cy="347472"/>
          </a:xfrm>
          <a:prstGeom prst="ellipse">
            <a:avLst/>
          </a:prstGeom>
          <a:solidFill>
            <a:srgbClr val="1B7F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84848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784848" y="160020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the patient dataset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0" y="228600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81728" y="2395728"/>
            <a:ext cx="347472" cy="347472"/>
          </a:xfrm>
          <a:prstGeom prst="ellipse">
            <a:avLst/>
          </a:prstGeom>
          <a:solidFill>
            <a:srgbClr val="1B7F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81728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81728" y="27889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Logistic Regression and Random Forest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75120" y="228600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84848" y="2395728"/>
            <a:ext cx="347472" cy="347472"/>
          </a:xfrm>
          <a:prstGeom prst="ellipse">
            <a:avLst/>
          </a:prstGeom>
          <a:solidFill>
            <a:srgbClr val="1B7F8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84848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84848" y="27889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cross-validation for evaluation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0" y="347472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1728" y="3584448"/>
            <a:ext cx="347472" cy="347472"/>
          </a:xfrm>
          <a:prstGeom prst="ellipse">
            <a:avLst/>
          </a:prstGeom>
          <a:solidFill>
            <a:srgbClr val="1B7F8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81728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681728" y="397764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both models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75120" y="347472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84848" y="3584448"/>
            <a:ext cx="347472" cy="347472"/>
          </a:xfrm>
          <a:prstGeom prst="ellipse">
            <a:avLst/>
          </a:prstGeom>
          <a:solidFill>
            <a:srgbClr val="1B7F8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84848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784848" y="397764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patients as diabetic / non-diabetic</a:t>
            </a:r>
            <a:endParaRPr lang="en-US" sz="1150" dirty="0"/>
          </a:p>
        </p:txBody>
      </p:sp>
      <p:pic>
        <p:nvPicPr>
          <p:cNvPr id="32" name="Image 1" descr="/home/claude/assets/kluh_logo.png">
            <a:extLst>
              <a:ext uri="{FF2B5EF4-FFF2-40B4-BE49-F238E27FC236}">
                <a16:creationId xmlns:a16="http://schemas.microsoft.com/office/drawing/2014/main" id="{DC34219F-FDDB-ECD6-B0AE-199A41628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20" y="160020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120640" cy="32918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Pregnancies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pregnancies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 concentration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BloodPressure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pressure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SkinThickness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 thickness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Mass 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DiabetesPedigreeFunction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Hereditary diabetes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of patient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6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(target)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6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Non-diabetic, 1 = Diabetic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97280"/>
            <a:ext cx="2834640" cy="33832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3"/>
          <p:cNvSpPr txBox="1"/>
          <p:nvPr/>
        </p:nvSpPr>
        <p:spPr>
          <a:xfrm>
            <a:off x="603504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classification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1691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4231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with 8 medical predictors and one outcome label.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3383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to separate class 0 from class 1.</a:t>
            </a:r>
            <a:endParaRPr lang="en-US" sz="1300" dirty="0"/>
          </a:p>
        </p:txBody>
      </p:sp>
      <p:pic>
        <p:nvPicPr>
          <p:cNvPr id="11" name="Image 1" descr="/home/claude/assets/kluh_logo.png">
            <a:extLst>
              <a:ext uri="{FF2B5EF4-FFF2-40B4-BE49-F238E27FC236}">
                <a16:creationId xmlns:a16="http://schemas.microsoft.com/office/drawing/2014/main" id="{5B2AF6E6-E398-FAED-9B98-70C3BC85B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421" y="135866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0B3C4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12344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73352" y="14813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56232" y="118872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0B3C4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856232" y="1188720"/>
            <a:ext cx="12344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072384" y="14813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55264" y="118872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0B3C4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255264" y="1188720"/>
            <a:ext cx="12344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71416" y="14813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54296" y="118872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0B3C4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654296" y="1188720"/>
            <a:ext cx="12344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/ Target Split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70448" y="14813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53328" y="118872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0B3C4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053328" y="1188720"/>
            <a:ext cx="12344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 80:20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14813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52360" y="118872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0B3C4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452360" y="1188720"/>
            <a:ext cx="12344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11680" y="24688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2011680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scaled data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4688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754880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trees, random_state = 42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017520" y="21031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760720" y="21031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1B7F8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457200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2359152" y="400507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0" y="384048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1B7F8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2560320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462272" y="400507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84048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1B7F8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4663440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565392" y="400507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66560" y="384048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E8604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766560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Prediction</a:t>
            </a:r>
            <a:endParaRPr lang="en-US" sz="1300" dirty="0"/>
          </a:p>
        </p:txBody>
      </p:sp>
      <p:pic>
        <p:nvPicPr>
          <p:cNvPr id="41" name="Image 1" descr="/home/claude/assets/kluh_logo.png">
            <a:extLst>
              <a:ext uri="{FF2B5EF4-FFF2-40B4-BE49-F238E27FC236}">
                <a16:creationId xmlns:a16="http://schemas.microsoft.com/office/drawing/2014/main" id="{1309EE36-FE13-6941-BF30-F5EF266E8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295" y="171795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 End Design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notebook interface for exploring data and viewing results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0B3C4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/ Jupyter Notebook / VS Code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840480" cy="530352"/>
          </a:xfrm>
          <a:prstGeom prst="rect">
            <a:avLst/>
          </a:prstGeom>
          <a:solidFill>
            <a:srgbClr val="F1F6F8"/>
          </a:solidFill>
          <a:ln w="9525">
            <a:solidFill>
              <a:srgbClr val="D5E4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187452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[1]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87452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532888"/>
            <a:ext cx="3840480" cy="530352"/>
          </a:xfrm>
          <a:prstGeom prst="rect">
            <a:avLst/>
          </a:prstGeom>
          <a:solidFill>
            <a:srgbClr val="F1F6F8"/>
          </a:solidFill>
          <a:ln w="9525">
            <a:solidFill>
              <a:srgbClr val="D5E4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253288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[2]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53288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pd.read_csv("diabetes.csv")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191256"/>
            <a:ext cx="3840480" cy="530352"/>
          </a:xfrm>
          <a:prstGeom prst="rect">
            <a:avLst/>
          </a:prstGeom>
          <a:solidFill>
            <a:srgbClr val="F1F6F8"/>
          </a:solidFill>
          <a:ln w="9525">
            <a:solidFill>
              <a:srgbClr val="D5E4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319125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[3]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19125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model_rf.fit(X_train, y_train)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849624"/>
            <a:ext cx="3840480" cy="530352"/>
          </a:xfrm>
          <a:prstGeom prst="rect">
            <a:avLst/>
          </a:prstGeom>
          <a:solidFill>
            <a:srgbClr val="FDEEEB"/>
          </a:solidFill>
          <a:ln w="9525">
            <a:solidFill>
              <a:srgbClr val="D5E4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3849624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962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Charts, tables, metrics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1325880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074920" y="13807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views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16367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head(), shape, info() and describe() tables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2148840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5074920" y="22037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074920" y="24597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distribution, glucose histogram, BMI vs Glucose, correlation heatmap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971800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5074920" y="30266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views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32826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and model comparison graph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3794760"/>
            <a:ext cx="3749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5074920" y="38496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Libraries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074920" y="41056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and Seaborn for visualisation</a:t>
            </a:r>
            <a:endParaRPr lang="en-US" sz="1100" dirty="0"/>
          </a:p>
        </p:txBody>
      </p:sp>
      <p:pic>
        <p:nvPicPr>
          <p:cNvPr id="33" name="Image 1" descr="/home/claude/assets/kluh_logo.png">
            <a:extLst>
              <a:ext uri="{FF2B5EF4-FFF2-40B4-BE49-F238E27FC236}">
                <a16:creationId xmlns:a16="http://schemas.microsoft.com/office/drawing/2014/main" id="{3C39DA00-535B-CB64-13BB-020CC043E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9107" y="226659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End Design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machine learning pipeline built with Pandas, NumPy and Scikit-learn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554480"/>
            <a:ext cx="502920" cy="502920"/>
          </a:xfrm>
          <a:prstGeom prst="ellipse">
            <a:avLst/>
          </a:prstGeom>
          <a:solidFill>
            <a:srgbClr val="1B7F8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4173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71907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diabetes.csv with Pandas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54480"/>
            <a:ext cx="502920" cy="50292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14173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171907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invalid values, split X / y, 80:20 train-test, scale features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651760"/>
            <a:ext cx="502920" cy="502920"/>
          </a:xfrm>
          <a:prstGeom prst="ellipse">
            <a:avLst/>
          </a:prstGeom>
          <a:solidFill>
            <a:srgbClr val="1B7F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2514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281635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LogisticRegression(max_iter=1000) on scaled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4231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651760"/>
            <a:ext cx="502920" cy="50292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006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2514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40680" y="281635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RandomForestClassifier(n_estimators=100, random_state=42)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3749040"/>
            <a:ext cx="502920" cy="502920"/>
          </a:xfrm>
          <a:prstGeom prst="ellipse">
            <a:avLst/>
          </a:prstGeom>
          <a:solidFill>
            <a:srgbClr val="1B7F8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436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234440" y="3611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234440" y="391363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5-fold, stratified, accuracy averaged over folds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5204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749040"/>
            <a:ext cx="502920" cy="50292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8006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440680" y="3611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Prediction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40680" y="391363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confusion matrix, then predict 0 / 1</a:t>
            </a:r>
            <a:endParaRPr lang="en-US" sz="1100" dirty="0"/>
          </a:p>
        </p:txBody>
      </p:sp>
      <p:pic>
        <p:nvPicPr>
          <p:cNvPr id="36" name="Image 1" descr="/home/claude/assets/kluh_logo.png">
            <a:extLst>
              <a:ext uri="{FF2B5EF4-FFF2-40B4-BE49-F238E27FC236}">
                <a16:creationId xmlns:a16="http://schemas.microsoft.com/office/drawing/2014/main" id="{5A3C29D8-751C-38FE-5966-75B1C0F9D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1764" y="204446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Analysis: Class Balance &amp; Data Quality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548640" y="1188720"/>
          <a:ext cx="38404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non-diabetic vs 268 diabetic: moderately imbalanced.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8" name="Chart 1"/>
          <p:cNvGraphicFramePr/>
          <p:nvPr/>
        </p:nvGraphicFramePr>
        <p:xfrm>
          <a:off x="4846320" y="1188720"/>
          <a:ext cx="37490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937760" y="4023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 in these columns are not physiologically possible, so they need careful preprocessing.</a:t>
            </a:r>
            <a:endParaRPr lang="en-US" sz="1200" dirty="0"/>
          </a:p>
        </p:txBody>
      </p:sp>
      <p:pic>
        <p:nvPicPr>
          <p:cNvPr id="11" name="Image 1" descr="/home/claude/assets/kluh_logo.png">
            <a:extLst>
              <a:ext uri="{FF2B5EF4-FFF2-40B4-BE49-F238E27FC236}">
                <a16:creationId xmlns:a16="http://schemas.microsoft.com/office/drawing/2014/main" id="{2F937B94-43C1-7BB9-DC5B-0AC8E492D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8140" y="91440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Analysis: Which Features Matter?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548640" y="1188720"/>
          <a:ext cx="43891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30352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values by outcome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463040"/>
          <a:ext cx="3383280" cy="18288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Non-diab.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86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86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86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Pregnancies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86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303520" y="347472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5440680" y="3547872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is the strongest predictor, followed by BMI and age. Diabetic patients show higher values on all four.</a:t>
            </a:r>
            <a:endParaRPr lang="en-US" sz="1200" dirty="0"/>
          </a:p>
        </p:txBody>
      </p:sp>
      <p:pic>
        <p:nvPicPr>
          <p:cNvPr id="10" name="Image 1" descr="/home/claude/assets/kluh_logo.png">
            <a:extLst>
              <a:ext uri="{FF2B5EF4-FFF2-40B4-BE49-F238E27FC236}">
                <a16:creationId xmlns:a16="http://schemas.microsoft.com/office/drawing/2014/main" id="{09E23CAC-6D80-34D3-A5A6-12BF1A9FD7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860" y="91440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Model Comparison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2120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548640" y="118872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097280"/>
          <a:ext cx="2788920" cy="1975104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897880" y="324612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6035040" y="3310128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wins on all four test-set metrics. Logistic Regression has the higher 5-fold CV accuracy.</a:t>
            </a:r>
            <a:endParaRPr lang="en-US" sz="1200" dirty="0"/>
          </a:p>
        </p:txBody>
      </p:sp>
      <p:pic>
        <p:nvPicPr>
          <p:cNvPr id="9" name="Image 1" descr="/home/claude/assets/kluh_logo.png">
            <a:extLst>
              <a:ext uri="{FF2B5EF4-FFF2-40B4-BE49-F238E27FC236}">
                <a16:creationId xmlns:a16="http://schemas.microsoft.com/office/drawing/2014/main" id="{BAFB1BDC-69FA-A6BC-A46F-1E109504C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295" y="160020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Confusion Matrix &amp; Importance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1B7F8C"/>
          </a:solidFill>
          <a:ln w="15875">
            <a:solidFill>
              <a:srgbClr val="1B7F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2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737360" y="1463040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1B7F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37360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1B7F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560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1737360" y="2560320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1B7F8C"/>
          </a:solidFill>
          <a:ln w="15875">
            <a:solidFill>
              <a:srgbClr val="1B7F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37360" y="2560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033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0 | 1   (rows: actual 0, 1)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00584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291840" y="1097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83280" y="1463040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E8604C"/>
          </a:solidFill>
          <a:ln w="15875">
            <a:solidFill>
              <a:srgbClr val="E8604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83280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2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480560" y="1463040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E8604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80560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3383280" y="2560320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E860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83280" y="2560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4480560" y="2560320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E8604C"/>
          </a:solidFill>
          <a:ln w="15875">
            <a:solidFill>
              <a:srgbClr val="E8604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80560" y="2560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3291840" y="37033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0 | 1   (rows: actual 0, 1)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160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154 patients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89320" y="100584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28" name="Chart 0"/>
          <p:cNvGraphicFramePr/>
          <p:nvPr/>
        </p:nvGraphicFramePr>
        <p:xfrm>
          <a:off x="6035040" y="1051560"/>
          <a:ext cx="26060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0" name="Image 1" descr="/home/claude/assets/kluh_logo.png">
            <a:extLst>
              <a:ext uri="{FF2B5EF4-FFF2-40B4-BE49-F238E27FC236}">
                <a16:creationId xmlns:a16="http://schemas.microsoft.com/office/drawing/2014/main" id="{F58700CA-602E-5EC8-CB02-F51BBD02C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2420" y="160020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Conclusion, Limitations &amp; 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1B7F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predict diabetes from patient data.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scored higher on accuracy (76.0%), precision and recall on the test set.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Glucose, BMI and age are the key drivers.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gives a more reliable estimate.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28016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E860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2801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82880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 (768 records).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values need careful handling.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not generalise to all populations.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replace a doctor's diagnosis.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28016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12801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82880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dataset, more features.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tuning, more algorithms.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with a user-friendly interface.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for each prediction.</a:t>
            </a:r>
            <a:endParaRPr lang="en-US" sz="1250" dirty="0"/>
          </a:p>
        </p:txBody>
      </p:sp>
      <p:pic>
        <p:nvPicPr>
          <p:cNvPr id="17" name="Image 1" descr="/home/claude/assets/kluh_logo.png">
            <a:extLst>
              <a:ext uri="{FF2B5EF4-FFF2-40B4-BE49-F238E27FC236}">
                <a16:creationId xmlns:a16="http://schemas.microsoft.com/office/drawing/2014/main" id="{A6972613-29E5-B4FC-15CC-D9D42DEAE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890" y="109728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822960"/>
            <a:ext cx="3291840" cy="3291840"/>
          </a:xfrm>
          <a:prstGeom prst="ellipse">
            <a:avLst/>
          </a:prstGeom>
          <a:solidFill>
            <a:srgbClr val="1B7F8C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for academic demonstration only; not a substitute for professional medical diagnosis.</a:t>
            </a:r>
            <a:endParaRPr lang="en-US" sz="1200" dirty="0"/>
          </a:p>
        </p:txBody>
      </p:sp>
      <p:pic>
        <p:nvPicPr>
          <p:cNvPr id="7" name="Image 1" descr="/home/claude/assets/kluh_logo.png">
            <a:extLst>
              <a:ext uri="{FF2B5EF4-FFF2-40B4-BE49-F238E27FC236}">
                <a16:creationId xmlns:a16="http://schemas.microsoft.com/office/drawing/2014/main" id="{B54F572F-FD87-ECCF-D986-88751DA26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260" y="256032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990</Words>
  <Application>Microsoft Office PowerPoint</Application>
  <PresentationFormat>On-screen Show (16:9)</PresentationFormat>
  <Paragraphs>250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Risk Prediction Using Logistic Regression and Random Forest</dc:title>
  <dc:subject>PptxGenJS Presentation</dc:subject>
  <dc:creator>PptxGenJS</dc:creator>
  <cp:lastModifiedBy>nandinivarma2008@outlook.com</cp:lastModifiedBy>
  <cp:revision>3</cp:revision>
  <dcterms:created xsi:type="dcterms:W3CDTF">2026-10-01T05:16:56Z</dcterms:created>
  <dcterms:modified xsi:type="dcterms:W3CDTF">2026-10-01T05:23:16Z</dcterms:modified>
</cp:coreProperties>
</file>